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View→Cart %</c:v>
                </c:pt>
              </c:strCache>
            </c:strRef>
          </c:tx>
          <c:spPr>
            <a:solidFill>
              <a:srgbClr val="3A7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Oct '19</c:v>
                </c:pt>
                <c:pt idx="1">
                  <c:v>Nov '19</c:v>
                </c:pt>
                <c:pt idx="2">
                  <c:v>Dec '19</c:v>
                </c:pt>
                <c:pt idx="3">
                  <c:v>Jan '20</c:v>
                </c:pt>
                <c:pt idx="4">
                  <c:v>Feb '20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34.46</c:v>
                </c:pt>
                <c:pt idx="1">
                  <c:v>23.54</c:v>
                </c:pt>
                <c:pt idx="2">
                  <c:v>23.29</c:v>
                </c:pt>
                <c:pt idx="3">
                  <c:v>23.3</c:v>
                </c:pt>
                <c:pt idx="4">
                  <c:v>26.98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F2-4057-AEB3-3436867CC2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Cart→Purchase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Oct '19</c:v>
                </c:pt>
                <c:pt idx="1">
                  <c:v>Nov '19</c:v>
                </c:pt>
                <c:pt idx="2">
                  <c:v>Dec '19</c:v>
                </c:pt>
                <c:pt idx="3">
                  <c:v>Jan '20</c:v>
                </c:pt>
                <c:pt idx="4">
                  <c:v>Feb '20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19.25</c:v>
                </c:pt>
                <c:pt idx="1">
                  <c:v>32.86</c:v>
                </c:pt>
                <c:pt idx="2">
                  <c:v>32.86</c:v>
                </c:pt>
                <c:pt idx="3">
                  <c:v>30.7</c:v>
                </c:pt>
                <c:pt idx="4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F2-4057-AEB3-3436867CC2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8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Arial"/>
              </a:rPr>
              <a:t>Monthly Revenue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Oct '19</c:v>
                </c:pt>
                <c:pt idx="1">
                  <c:v>Nov '19</c:v>
                </c:pt>
                <c:pt idx="2">
                  <c:v>Dec '19</c:v>
                </c:pt>
                <c:pt idx="3">
                  <c:v>Jan '20</c:v>
                </c:pt>
                <c:pt idx="4">
                  <c:v>Feb '20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1207163</c:v>
                </c:pt>
                <c:pt idx="1">
                  <c:v>1530831</c:v>
                </c:pt>
                <c:pt idx="2">
                  <c:v>1082487</c:v>
                </c:pt>
                <c:pt idx="3">
                  <c:v>1315592</c:v>
                </c:pt>
                <c:pt idx="4">
                  <c:v>1212194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0C8-45C7-BEEF-00219A2199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6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914400"/>
            <a:ext cx="64008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77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FUNNEL ANALYSIS &amp;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COHORT RETENTION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E-Commerce | Oct 2019 – Feb 2020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Gupta  ·  Data Analyst | Business Analytics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37960" y="1161288"/>
            <a:ext cx="1234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11290" y="136093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19.5M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4625" y="180441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Events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850505" y="1161288"/>
            <a:ext cx="1234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08595" y="135712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1.6M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50505" y="18105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37960" y="2343912"/>
            <a:ext cx="1234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60820" y="25831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6.92%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49390" y="29809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50505" y="2336293"/>
            <a:ext cx="123444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50505" y="257937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$6.35M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73365" y="29763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5-Month Revenue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81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users dropping off — and are they coming back?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million events. Zero visibility into two questions that determine whether the business is healthy.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3108960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411480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are users dropping off?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has 1.6M users browsing products. Leadership has no visibility into where exactly in the journey users are leaving — or what it costs.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14800" cy="3108960"/>
          </a:xfrm>
          <a:prstGeom prst="rect">
            <a:avLst/>
          </a:prstGeom>
          <a:solidFill>
            <a:srgbClr val="1F150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4114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acquired users coming back?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48716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user costs money. If they buy once and never return, the business is on a treadmill — permanently spending to replace the users it keeps losing.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1  →  Funnel Analysis     </a:t>
            </a: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 </a:t>
            </a: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2  →  Cohort Retention Analysis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5544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1554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20.69M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39112" y="1005840"/>
            <a:ext cx="15544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39112" y="1005840"/>
            <a:ext cx="1554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1155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19.58M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39112" y="1664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Events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58184" y="1005840"/>
            <a:ext cx="15544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58184" y="1005840"/>
            <a:ext cx="1554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1155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1.64M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58184" y="1664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77256" y="1005840"/>
            <a:ext cx="15544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7256" y="1005840"/>
            <a:ext cx="1554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7256" y="11155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77256" y="1664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96328" y="1005840"/>
            <a:ext cx="15544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96328" y="1005840"/>
            <a:ext cx="1554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11155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5.36%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96328" y="1664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BREAKDOWN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1264" y="2971800"/>
            <a:ext cx="164592" cy="29260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688" y="29601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2971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06724"/>
            <a:ext cx="164592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502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84832" y="3523869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24.93%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27932"/>
            <a:ext cx="164592" cy="292608"/>
          </a:xfrm>
          <a:prstGeom prst="rect">
            <a:avLst/>
          </a:prstGeom>
          <a:solidFill>
            <a:srgbClr val="52C97A"/>
          </a:solidFill>
          <a:ln w="12700">
            <a:solidFill>
              <a:srgbClr val="52C9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0279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03120" y="402717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6.92%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" y="42611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42611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2331720"/>
            <a:ext cx="3995928" cy="223113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2450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DEDUPLICATION FIRST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834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1,109,098 duplicate rows were removed before any analysis — 5.36% of the raw dataset.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3474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duplicates would have inflated every metric — conversion rates, user counts, revenue. All findings would have been slightly wrong.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7274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2019  ·  Nov 2019  ·  Dec 2019  ·  Jan 2020  ·  Feb 2020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CONVERSION FUNNEL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stages. 3 different stories.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840480" cy="77724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367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1,597,754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24528" y="13990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7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331720"/>
            <a:ext cx="2194560" cy="7772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340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398,308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1568" y="24963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24.93%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1568" y="284378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Cart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3429000"/>
            <a:ext cx="1097280" cy="777240"/>
          </a:xfrm>
          <a:prstGeom prst="rect">
            <a:avLst/>
          </a:prstGeom>
          <a:solidFill>
            <a:srgbClr val="52C97A">
              <a:alpha val="85000"/>
            </a:srgbClr>
          </a:solidFill>
          <a:ln w="12700">
            <a:solidFill>
              <a:srgbClr val="52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PURCHASE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38313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110,518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52928" y="35935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2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6.92%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52928" y="39410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1143000"/>
            <a:ext cx="3657600" cy="1097280"/>
          </a:xfrm>
          <a:prstGeom prst="rect">
            <a:avLst/>
          </a:prstGeom>
          <a:solidFill>
            <a:srgbClr val="0A1F0F"/>
          </a:solidFill>
          <a:ln w="12700">
            <a:solidFill>
              <a:srgbClr val="52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1143000"/>
            <a:ext cx="3657600" cy="54864"/>
          </a:xfrm>
          <a:prstGeom prst="rect">
            <a:avLst/>
          </a:prstGeom>
          <a:solidFill>
            <a:srgbClr val="52C97A"/>
          </a:solidFill>
          <a:ln w="12700">
            <a:solidFill>
              <a:srgbClr val="52C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234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Benchmark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85232" y="1554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6.92% overall conversion vs industry 1–3%. The headline is good.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377440"/>
            <a:ext cx="3657600" cy="1097280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2377440"/>
            <a:ext cx="365760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4688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Top-Funnel Leak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27889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visitors — 1.2M users — never added a single item to cart.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3611880"/>
            <a:ext cx="3657600" cy="1097280"/>
          </a:xfrm>
          <a:prstGeom prst="rect">
            <a:avLst/>
          </a:prstGeom>
          <a:solidFill>
            <a:srgbClr val="1F150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3611880"/>
            <a:ext cx="36576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703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40233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72.25% abandonment rate — right at the ~70% industry benchmark.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7350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platform converts well compared to industry — but 75% of visitors never reach the cart."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$1.52M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288,701 users added to cart. Then walked away.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657600" cy="2834640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0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$1,518,567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recoverable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288,701 abandoned carts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3383280" cy="68580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272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288,701 users  ×  $5.26 avg cart value  =  $1.52M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21488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2801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398,308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172821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194560"/>
            <a:ext cx="21488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224028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110,518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268833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3154680"/>
            <a:ext cx="21488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34840" y="32004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288,701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34840" y="3648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234440"/>
            <a:ext cx="21488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2801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72.25%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172821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194560"/>
            <a:ext cx="21488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24028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$5.26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268833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Cart 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154680"/>
            <a:ext cx="214884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0" y="320040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99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3648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4160520"/>
            <a:ext cx="434340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2062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$5.26 avg cart value, a small incentive closes the deal. Even recovering 10% of abandoned carts = $151,856 from a single automated workflow.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681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users already showed intent. They put something in their cart. The barrier to recovery is low."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SEASONALITY: OCTOBER BROWSES, NOVEMBER BUYS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funnel breakdown reveals a consistent pre-holiday pattern.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97280"/>
            <a:ext cx="2834640" cy="1170432"/>
          </a:xfrm>
          <a:prstGeom prst="rect">
            <a:avLst/>
          </a:prstGeom>
          <a:solidFill>
            <a:srgbClr val="080F1F"/>
          </a:solidFill>
          <a:ln w="12700">
            <a:solidFill>
              <a:srgbClr val="3A7BD5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97880" y="1097280"/>
            <a:ext cx="283464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ANOMALY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53328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view-to-cart rate (34.46%) but lowest cart-to-purchase (19.25%). Users browse aggressively, commit hesitantly. Classic pre-holiday wishlist behaviour.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2404872"/>
            <a:ext cx="2834640" cy="1170432"/>
          </a:xfrm>
          <a:prstGeom prst="rect">
            <a:avLst/>
          </a:prstGeom>
          <a:solidFill>
            <a:srgbClr val="1F150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2404872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496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CONVERTS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53328" y="2788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Cart-to-purchase jumps to 32.86% — the highest of any month. October's browsers are now buying. Holiday intent crystalised into purchase.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3712464"/>
            <a:ext cx="2834640" cy="1170432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3712464"/>
            <a:ext cx="283464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SURPRISE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53328" y="409651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drops to $1.08M despite Christmas month. Cosmetics gift-buying peaked early in November — a dedicated December gifting strategy is missing.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-1188720" y="4535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 before October. Convert in November. Don't let December go unplanned."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RETENTION REALITY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new users never return after their first month.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377440" cy="1920240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13.71%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Retention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BENCHMARK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188720"/>
            <a:ext cx="2236763" cy="1920240"/>
          </a:xfrm>
          <a:prstGeom prst="rect">
            <a:avLst/>
          </a:prstGeom>
          <a:solidFill>
            <a:srgbClr val="0A1F0F"/>
          </a:solidFill>
          <a:ln w="12700">
            <a:solidFill>
              <a:srgbClr val="52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20–30%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0175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Benchmark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6334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115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MATRIX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000904"/>
              </p:ext>
            </p:extLst>
          </p:nvPr>
        </p:nvGraphicFramePr>
        <p:xfrm>
          <a:off x="5254283" y="1188720"/>
          <a:ext cx="3699216" cy="2084832"/>
        </p:xfrm>
        <a:graphic>
          <a:graphicData uri="http://schemas.openxmlformats.org/drawingml/2006/table">
            <a:tbl>
              <a:tblPr/>
              <a:tblGrid>
                <a:gridCol w="47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Cohort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Size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M0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M1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M2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M3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5A623"/>
                          </a:solidFill>
                        </a:rPr>
                        <a:t>M4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Oct 2019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399,664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05252"/>
                          </a:solidFill>
                        </a:rPr>
                        <a:t>13.71%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10.64%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8.26%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6.74%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Nov 2019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329,384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05252"/>
                          </a:solidFill>
                        </a:rPr>
                        <a:t>13.68%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10.03%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7.93%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Dec 2019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313,262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05252"/>
                          </a:solidFill>
                        </a:rPr>
                        <a:t>12.07%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9.07%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Jan 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299,377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05252"/>
                          </a:solidFill>
                        </a:rPr>
                        <a:t>13.35%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Feb 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298,271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05252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65760" y="3749040"/>
            <a:ext cx="8412480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DECAY PATTERN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4096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cohort: 100% → 13.71% → 10.64% → 8.26% → 6.74%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38221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drop is Month 0 → Month 1. Users who survive that cliff are relatively sticky — the problem is getting them to return the first time.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intervention window is the first 30 days — before Month 1. After that, the users who stayed are already committed."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PLOT TWIST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looks broken. But look at what happens after someone actually buys.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2286000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93192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users never return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Month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terrible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31920" cy="2286000"/>
          </a:xfrm>
          <a:prstGeom prst="rect">
            <a:avLst/>
          </a:prstGeom>
          <a:solidFill>
            <a:srgbClr val="0A1F0F"/>
          </a:solidFill>
          <a:ln w="12700">
            <a:solidFill>
              <a:srgbClr val="52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34440"/>
            <a:ext cx="3931920" cy="64008"/>
          </a:xfrm>
          <a:prstGeom prst="rect">
            <a:avLst/>
          </a:prstGeom>
          <a:solidFill>
            <a:srgbClr val="52C97A"/>
          </a:solidFill>
          <a:ln w="12700">
            <a:solidFill>
              <a:srgbClr val="52C9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53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89.66%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029200" y="24505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who ever purchased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again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loyalty is exceptional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99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0F0A0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707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3496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doesn't have a loyalty problem. It has a first-purchase problem. The 6.92% who convert are highly loyal — 90% come back. The 93% who don't convert are lost forever. Get more users to their first purchase and retention largely takes care of itself.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ELSE THE DATA SAYS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914400"/>
            <a:ext cx="32004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577840" y="914400"/>
            <a:ext cx="54864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0" y="95097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11.91 days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0" y="12618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 to First Purchase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0" y="144475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windows need 14+ days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577840" y="1737360"/>
            <a:ext cx="32004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737360"/>
            <a:ext cx="54864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7739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$22–$26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0" y="20848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(stable)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0" y="226771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driven by volume, not spend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577840" y="2560320"/>
            <a:ext cx="32004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560320"/>
            <a:ext cx="54864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5968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15000" y="29077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Session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715000" y="3090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explore multiple products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577840" y="3383280"/>
            <a:ext cx="32004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383280"/>
            <a:ext cx="54864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4198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51.32%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15000" y="37307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eunyul Conversion Rate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15000" y="391363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 the platform average of 6.92%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3657600"/>
            <a:ext cx="50292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" y="37490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INSIGHT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400507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runail</a:t>
            </a: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#1 by volume &amp; revenue. Concentration risk: any disruption has outsized impact.
</a:t>
            </a: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eunyul</a:t>
            </a: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51.32% conversion. Product-market fit signal. Scale immediately.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4279392"/>
            <a:ext cx="320040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52C9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0" y="4315968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apparel.glove — 39.59% category conversion. Highest on the platform. Expand the range.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5760" y="4692513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"November peaked at $1.53M. Revenue swings are driven by buyer volume — not how much each buyer spends."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traceable to a specific number.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75488" cy="8412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106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First-Month Re-engagement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99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automated touchpoints at Days 7, 14, 21 post-signup. Grounded in the 11.91-day consideration cycle and 86% Month 1 churn.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475488" cy="841248"/>
          </a:xfrm>
          <a:prstGeom prst="rect">
            <a:avLst/>
          </a:prstGeom>
          <a:solidFill>
            <a:srgbClr val="E05252">
              <a:alpha val="8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3444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106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Recovery Within 24 hrs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399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288,701 abandoned carts. $1.52M at risk. At $5.26 avg value, a small incentive closes the deal. Even 10% recovery = $151K.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020824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020824"/>
            <a:ext cx="475488" cy="841248"/>
          </a:xfrm>
          <a:prstGeom prst="rect">
            <a:avLst/>
          </a:prstGeom>
          <a:solidFill>
            <a:srgbClr val="3A7BD5">
              <a:alpha val="85000"/>
            </a:srgbClr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0370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D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0756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Ahead of November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3682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browses, November buys. Budget, inventory, and campaigns must be confirmed before October begins — not during the peak.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020824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20824"/>
            <a:ext cx="475488" cy="841248"/>
          </a:xfrm>
          <a:prstGeom prst="rect">
            <a:avLst/>
          </a:prstGeom>
          <a:solidFill>
            <a:srgbClr val="52C97A">
              <a:alpha val="85000"/>
            </a:srgbClr>
          </a:solidFill>
          <a:ln w="12700">
            <a:solidFill>
              <a:srgbClr val="52C9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0370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2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0756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eunyul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3682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51.32% conversion rate — 7× platform average. Increase visibility, expand inventory, feature in re-engagement. The data says it sells itself.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90088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90088"/>
            <a:ext cx="475488" cy="841248"/>
          </a:xfrm>
          <a:prstGeom prst="rect">
            <a:avLst/>
          </a:prstGeom>
          <a:solidFill>
            <a:srgbClr val="9B59B6">
              <a:alpha val="8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1729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0449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runail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brand by volume and revenue. Concentration risk. Maintain supplier agreements. A runail stock-out is a platform-level revenue problem.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990088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990088"/>
            <a:ext cx="475488" cy="841248"/>
          </a:xfrm>
          <a:prstGeom prst="rect">
            <a:avLst/>
          </a:prstGeom>
          <a:solidFill>
            <a:srgbClr val="00BCD4">
              <a:alpha val="8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729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0449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apparel.glove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337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39.59% category conversion — highest on the platform. Demand exists and is unmet. Expand range and promote within funnel.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59352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959352"/>
            <a:ext cx="475488" cy="84124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1422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8680" y="4014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Attribution Windows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43068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7-day window misses half your conversions. Avg buyer takes 11.91 days. Set attribution to 14 days — grounded in data.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959352"/>
            <a:ext cx="4160520" cy="8412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959352"/>
            <a:ext cx="475488" cy="841248"/>
          </a:xfrm>
          <a:prstGeom prst="rect">
            <a:avLst/>
          </a:prstGeom>
          <a:solidFill>
            <a:srgbClr val="E05252">
              <a:alpha val="8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4223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40142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Gifting Strategy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43068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revenue dropped to $1.08M — lowest of 5 months. Cosmetics are gifting products. A targeted campaign with bundles can recover this.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804117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recommendation in this project has a number behind it. That's the difference between analysis and opinion."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1554480"/>
          </a:xfrm>
          <a:prstGeom prst="rect">
            <a:avLst/>
          </a:prstGeom>
          <a:solidFill>
            <a:srgbClr val="0F0A0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5800" y="5943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"The platform's conversion rate beats industry average.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Its retention rate doesn't come close.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 is not in acquisition — it's in the first 30 days after a user arrives."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2331720"/>
            <a:ext cx="2697480" cy="2148840"/>
          </a:xfrm>
          <a:prstGeom prst="rect">
            <a:avLst/>
          </a:prstGeom>
          <a:solidFill>
            <a:srgbClr val="0A1F0F"/>
          </a:solidFill>
          <a:ln w="12700">
            <a:solidFill>
              <a:srgbClr val="52C97A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331720"/>
            <a:ext cx="2697480" cy="54864"/>
          </a:xfrm>
          <a:prstGeom prst="rect">
            <a:avLst/>
          </a:prstGeom>
          <a:solidFill>
            <a:srgbClr val="52C97A"/>
          </a:solidFill>
          <a:ln w="12700">
            <a:solidFill>
              <a:srgbClr val="52C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Win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2834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6.92% overall conversion exceeds the 1–3% industry benchmark. The platform's top-line number is a genuine positive.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331720"/>
            <a:ext cx="2697480" cy="2148840"/>
          </a:xfrm>
          <a:prstGeom prst="rect">
            <a:avLst/>
          </a:prstGeom>
          <a:solidFill>
            <a:srgbClr val="1F0A0A"/>
          </a:solidFill>
          <a:ln w="12700">
            <a:solidFill>
              <a:srgbClr val="E052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2331720"/>
            <a:ext cx="269748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2834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13.71% Month 1 retention vs 20–30% benchmark. 86% of users gone within 30 days. The single highest-value intervention point.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2697480" cy="2148840"/>
          </a:xfrm>
          <a:prstGeom prst="rect">
            <a:avLst/>
          </a:prstGeom>
          <a:solidFill>
            <a:srgbClr val="1F1500"/>
          </a:solidFill>
          <a:ln w="1270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331720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4505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283464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89.66% of buyers repurchase. The problem isn't loyalty — it's getting users to their first purchase. Solve that, and retention follows.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091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Gupta  ·  Funnel &amp; Cohort Analysis  ·  Cosmetics E-Commerce  ·  Oct 2019 – Feb 2020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1374</Words>
  <Application>Microsoft Office PowerPoint</Application>
  <PresentationFormat>On-screen Show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Funnel &amp; Cohort Analysis — Cosmetics E-Commerce</dc:title>
  <dc:subject>PptxGenJS Presentation</dc:subject>
  <dc:creator>Samarth Gupta</dc:creator>
  <cp:lastModifiedBy>Samarth Gupta</cp:lastModifiedBy>
  <cp:revision>7</cp:revision>
  <dcterms:created xsi:type="dcterms:W3CDTF">2026-05-19T06:32:05Z</dcterms:created>
  <dcterms:modified xsi:type="dcterms:W3CDTF">2026-05-19T06:52:27Z</dcterms:modified>
</cp:coreProperties>
</file>